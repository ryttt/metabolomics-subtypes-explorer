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463040"/>
                <a:gridCol w="1463040"/>
                <a:gridCol w="1463040"/>
                <a:gridCol w="1463040"/>
                <a:gridCol w="1463040"/>
                <a:gridCol w="914400"/>
              </a:tblGrid>
              <a:tr h="365760">
                <a:tc>
                  <a:txBody>
                    <a:bodyPr/>
                    <a:lstStyle/>
                    <a:p/>
                  </a:txBody>
                  <a:tcP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Arial"/>
                        </a:rPr>
                        <a:t>Cognitive</a:t>
                      </a:r>
                    </a:p>
                  </a:txBody>
                  <a:tcP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Arial"/>
                        </a:rPr>
                        <a:t>Control</a:t>
                      </a:r>
                    </a:p>
                  </a:txBody>
                  <a:tcP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Arial"/>
                        </a:rPr>
                        <a:t>Depressive</a:t>
                      </a:r>
                    </a:p>
                  </a:txBody>
                  <a:tcP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Arial"/>
                        </a:rPr>
                        <a:t>MildPTSD</a:t>
                      </a:r>
                    </a:p>
                  </a:txBody>
                  <a:tcP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Arial"/>
                        </a:rPr>
                        <a:t>SeverePTSD</a:t>
                      </a:r>
                    </a:p>
                  </a:txBody>
                  <a:tcP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Arial"/>
                        </a:rPr>
                        <a:t>p</a:t>
                      </a:r>
                    </a:p>
                  </a:txBody>
                  <a:tcPr>
                    <a:solidFill>
                      <a:srgbClr val="DCDCD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latin typeface="Arial"/>
                        </a:rPr>
                        <a:t>n</a:t>
                      </a:r>
                    </a:p>
                  </a:txBody>
                  <a:tcP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84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226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29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81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139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latin typeface="Arial"/>
                        </a:rPr>
                        <a:t>Age (mean (SD))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30.87 (7.79)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29.72 (7.18)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29.14 (6.96)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29.78 (6.98)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30.68 (6.93)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0.527</a:t>
                      </a:r>
                    </a:p>
                  </a:txBody>
                  <a:tcPr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latin typeface="Arial"/>
                        </a:rPr>
                        <a:t>Gender = Male (%)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76 (90.5)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180 (79.6)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26 (89.7)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69 (85.2)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116 (83.5)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0.172</a:t>
                      </a:r>
                    </a:p>
                  </a:txBody>
                  <a:tcPr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latin typeface="Arial"/>
                        </a:rPr>
                        <a:t>BMI (mean (SD))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28.25 (4.16)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27.16 (4.51)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28.76 (3.53)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27.92 (3.85)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28.56 (4.86)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0.028</a:t>
                      </a:r>
                    </a:p>
                  </a:txBody>
                  <a:tcPr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latin typeface="Arial"/>
                        </a:rPr>
                        <a:t>Cohort (%)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&lt;0.001</a:t>
                      </a:r>
                    </a:p>
                  </a:txBody>
                  <a:tcPr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latin typeface="Arial"/>
                        </a:rPr>
                        <a:t>  Cohen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17 (20.2)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79 (35.0)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8 (27.6)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32 (39.5)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50 (36.0)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latin typeface="Arial"/>
                        </a:rPr>
                        <a:t>  FCC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65 (77.4)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91 (40.3)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17 (58.6)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43 (53.1)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56 (40.3)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latin typeface="Arial"/>
                        </a:rPr>
                        <a:t>  SBC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2 (2.4)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56 (24.8)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4 (13.8)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6 (7.4)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33 (23.7)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